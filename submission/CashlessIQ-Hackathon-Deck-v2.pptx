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0d2a5874b84dfa" /><Relationship Type="http://schemas.openxmlformats.org/officeDocument/2006/relationships/extended-properties" Target="/docProps/app.xml" Id="Read8c37764cc48a8" /><Relationship Type="http://schemas.openxmlformats.org/officeDocument/2006/relationships/officeDocument" Target="/ppt/presentation.xml" Id="R3449b523dfdf45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746ce39e41485e"/>
  </p:sldMasterIdLst>
  <p:notesMasterIdLst>
    <p:notesMasterId xmlns:r="http://schemas.openxmlformats.org/officeDocument/2006/relationships" r:id="Rd6d818532be84854"/>
  </p:notesMasterIdLst>
  <p:sldIdLst>
    <p:sldId xmlns:r="http://schemas.openxmlformats.org/officeDocument/2006/relationships" id="256" r:id="Rc120be56caa34a00"/>
    <p:sldId xmlns:r="http://schemas.openxmlformats.org/officeDocument/2006/relationships" id="257" r:id="R70d4c779a1404cc8"/>
    <p:sldId xmlns:r="http://schemas.openxmlformats.org/officeDocument/2006/relationships" id="258" r:id="R3b13a044eb1b4199"/>
    <p:sldId xmlns:r="http://schemas.openxmlformats.org/officeDocument/2006/relationships" id="259" r:id="R85f5445e6fb34c03"/>
    <p:sldId xmlns:r="http://schemas.openxmlformats.org/officeDocument/2006/relationships" id="260" r:id="R21670629c928459c"/>
    <p:sldId xmlns:r="http://schemas.openxmlformats.org/officeDocument/2006/relationships" id="261" r:id="Rd342046ca2e84b6c"/>
    <p:sldId xmlns:r="http://schemas.openxmlformats.org/officeDocument/2006/relationships" id="262" r:id="R7463e5dc34fe4c57"/>
    <p:sldId xmlns:r="http://schemas.openxmlformats.org/officeDocument/2006/relationships" id="263" r:id="R3ca5b920c7d549dc"/>
    <p:sldId xmlns:r="http://schemas.openxmlformats.org/officeDocument/2006/relationships" id="264" r:id="Rf2e35b2d9ac34cc6"/>
    <p:sldId xmlns:r="http://schemas.openxmlformats.org/officeDocument/2006/relationships" id="265" r:id="R20651ceb595547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bcc48b366f4d77" /><Relationship Type="http://schemas.openxmlformats.org/officeDocument/2006/relationships/slideMaster" Target="/ppt/slideMasters/slideMaster1.xml" Id="Rba746ce39e41485e" /><Relationship Type="http://schemas.openxmlformats.org/officeDocument/2006/relationships/notesMaster" Target="/ppt/notesMasters/notesMaster1.xml" Id="Rd6d818532be84854" /><Relationship Type="http://schemas.openxmlformats.org/officeDocument/2006/relationships/presProps" Target="/ppt/presProps.xml" Id="R64379387fb21477a" /><Relationship Type="http://schemas.openxmlformats.org/officeDocument/2006/relationships/tableStyles" Target="/ppt/tableStyles.xml" Id="R297bd98ffed34725" /><Relationship Type="http://schemas.openxmlformats.org/officeDocument/2006/relationships/slide" Target="/ppt/slides/slide1.xml" Id="Rc120be56caa34a00" /><Relationship Type="http://schemas.openxmlformats.org/officeDocument/2006/relationships/slide" Target="/ppt/slides/slide2.xml" Id="R70d4c779a1404cc8" /><Relationship Type="http://schemas.openxmlformats.org/officeDocument/2006/relationships/slide" Target="/ppt/slides/slide3.xml" Id="R3b13a044eb1b4199" /><Relationship Type="http://schemas.openxmlformats.org/officeDocument/2006/relationships/slide" Target="/ppt/slides/slide4.xml" Id="R85f5445e6fb34c03" /><Relationship Type="http://schemas.openxmlformats.org/officeDocument/2006/relationships/slide" Target="/ppt/slides/slide5.xml" Id="R21670629c928459c" /><Relationship Type="http://schemas.openxmlformats.org/officeDocument/2006/relationships/slide" Target="/ppt/slides/slide6.xml" Id="Rd342046ca2e84b6c" /><Relationship Type="http://schemas.openxmlformats.org/officeDocument/2006/relationships/slide" Target="/ppt/slides/slide7.xml" Id="R7463e5dc34fe4c57" /><Relationship Type="http://schemas.openxmlformats.org/officeDocument/2006/relationships/slide" Target="/ppt/slides/slide8.xml" Id="R3ca5b920c7d549dc" /><Relationship Type="http://schemas.openxmlformats.org/officeDocument/2006/relationships/slide" Target="/ppt/slides/slide9.xml" Id="Rf2e35b2d9ac34cc6" /><Relationship Type="http://schemas.openxmlformats.org/officeDocument/2006/relationships/slide" Target="/ppt/slides/slide10.xml" Id="R20651ceb595547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49583c6d904e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513360c6ee48ca" /><Relationship Type="http://schemas.openxmlformats.org/officeDocument/2006/relationships/notesMaster" Target="/ppt/notesMasters/notesMaster1.xml" Id="R260797a25d764d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47e8f9d152425f" /><Relationship Type="http://schemas.openxmlformats.org/officeDocument/2006/relationships/notesMaster" Target="/ppt/notesMasters/notesMaster1.xml" Id="R5aad5c1a56fa4f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aff3eb2fdd468d" /><Relationship Type="http://schemas.openxmlformats.org/officeDocument/2006/relationships/notesMaster" Target="/ppt/notesMasters/notesMaster1.xml" Id="R69ff837bf48e4f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db1ab8d3644694" /><Relationship Type="http://schemas.openxmlformats.org/officeDocument/2006/relationships/notesMaster" Target="/ppt/notesMasters/notesMaster1.xml" Id="Ra3fa16a9af3642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ebaa2fe11849a3" /><Relationship Type="http://schemas.openxmlformats.org/officeDocument/2006/relationships/notesMaster" Target="/ppt/notesMasters/notesMaster1.xml" Id="R5ae49dd6e05f47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4ff3ff3b9b4090" /><Relationship Type="http://schemas.openxmlformats.org/officeDocument/2006/relationships/notesMaster" Target="/ppt/notesMasters/notesMaster1.xml" Id="R8d343d4609bb49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d9a6c3e0d24024" /><Relationship Type="http://schemas.openxmlformats.org/officeDocument/2006/relationships/notesMaster" Target="/ppt/notesMasters/notesMaster1.xml" Id="R4df7f50149c549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6fe5c76af84078" /><Relationship Type="http://schemas.openxmlformats.org/officeDocument/2006/relationships/notesMaster" Target="/ppt/notesMasters/notesMaster1.xml" Id="Ra3162d2c659d47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ee35277b8f4a43" /><Relationship Type="http://schemas.openxmlformats.org/officeDocument/2006/relationships/notesMaster" Target="/ppt/notesMasters/notesMaster1.xml" Id="R72a481e7bd184b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8cac1607b24ebf" /><Relationship Type="http://schemas.openxmlformats.org/officeDocument/2006/relationships/notesMaster" Target="/ppt/notesMasters/notesMaster1.xml" Id="R857c3b18d08b43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repository README.md and docs/build-plan.md.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docs/build-plan.md. One-hour window is the project requirement used throughout the build.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 and agent/instructions.md.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live Phase 4 GOL007 agent result and docs/coco-playbook.md.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app pages and src/cashlessiq/decision_schema.py.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docs/coco-playbook.md persona verification and sql/60_governance.sql.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docs/coco-playbook.md, 2026-10-03 governed onboarding rehearsal.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EVAL-E6E692A5D0E04347B06F and docs/evaluation.md. Percentages: 100, 90, 96.7, 55.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docs/evaluation.md. These limitations are measured rather than inferred.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repository README.md. End on the live reviewer console if time permits.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eaa88ea6d248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8b548ac3c04956" /><Relationship Type="http://schemas.openxmlformats.org/officeDocument/2006/relationships/slideLayout" Target="/ppt/slideLayouts/slideLayout1.xml" Id="R6335175b83c043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35175b83c043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ae8442c3844bf" /><Relationship Type="http://schemas.openxmlformats.org/officeDocument/2006/relationships/notesSlide" Target="/ppt/notesSlides/notesSlide1.xml" Id="R2b9dca9fb6f942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62ccee8594ea9" /><Relationship Type="http://schemas.openxmlformats.org/officeDocument/2006/relationships/notesSlide" Target="/ppt/notesSlides/notesSlide2.xml" Id="R6f9e777415a446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e2a0479794198" /><Relationship Type="http://schemas.openxmlformats.org/officeDocument/2006/relationships/notesSlide" Target="/ppt/notesSlides/notesSlide3.xml" Id="Rf2e2610972a54c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7dc911130433e" /><Relationship Type="http://schemas.openxmlformats.org/officeDocument/2006/relationships/notesSlide" Target="/ppt/notesSlides/notesSlide4.xml" Id="R6769d074dee14e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5ad3a29044d60" /><Relationship Type="http://schemas.openxmlformats.org/officeDocument/2006/relationships/notesSlide" Target="/ppt/notesSlides/notesSlide5.xml" Id="R66057decd80948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ef7b9ab0c4368" /><Relationship Type="http://schemas.openxmlformats.org/officeDocument/2006/relationships/notesSlide" Target="/ppt/notesSlides/notesSlide6.xml" Id="Rac9d1dfe961943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6ee45da9943f1" /><Relationship Type="http://schemas.openxmlformats.org/officeDocument/2006/relationships/notesSlide" Target="/ppt/notesSlides/notesSlide7.xml" Id="Rf23c548bf5aa43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39c9b444e4c45" /><Relationship Type="http://schemas.openxmlformats.org/officeDocument/2006/relationships/chart" Target="/ppt/slides/charts/chart1.xml" Id="R14bb3b0e81304b1a" /><Relationship Type="http://schemas.openxmlformats.org/officeDocument/2006/relationships/notesSlide" Target="/ppt/notesSlides/notesSlide8.xml" Id="Ra8d1ca49d4274c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c1aacb3754f07" /><Relationship Type="http://schemas.openxmlformats.org/officeDocument/2006/relationships/notesSlide" Target="/ppt/notesSlides/notesSlide9.xml" Id="R350b4036432043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c63f87fe148ff" /><Relationship Type="http://schemas.openxmlformats.org/officeDocument/2006/relationships/notesSlide" Target="/ppt/notesSlides/notesSlide10.xml" Id="R9f6dce563f58476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Percent</c:v>
          </c:tx>
          <c:spPr>
            <a:solidFill xmlns:a="http://schemas.openxmlformats.org/drawingml/2006/main">
              <a:srgbClr val="28C7E9"/>
            </a:solidFill>
          </c:spPr>
          <c:cat>
            <c:strRef>
              <c:f>'Chart Data'!$A$2:$A$5</c:f>
              <c:strCache>
                <c:ptCount val="4"/>
                <c:pt idx="0">
                  <c:v>Schema valid</c:v>
                </c:pt>
                <c:pt idx="1">
                  <c:v>Outcome correct</c:v>
                </c:pt>
                <c:pt idx="2">
                  <c:v>Amount correct</c:v>
                </c:pt>
                <c:pt idx="3">
                  <c:v>Citation recall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100</c:v>
                </c:pt>
                <c:pt idx="1">
                  <c:v>90</c:v>
                </c:pt>
                <c:pt idx="2">
                  <c:v>96.7</c:v>
                </c:pt>
                <c:pt idx="3">
                  <c:v>55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D131B-291F-4D9F-9D54-0C66704C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7E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B9DB3-A2FE-452B-ACEA-B887AFF0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CashlessIQ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64951-0EFE-49BE-AF80-23EEA033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Cashless pre-authorisation with deterministic math and cited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474D7-A2C0-4D0B-B7ED-76D3E7A7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57625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7E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5646C-9571-49F6-A511-7B973985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Snowflake CoCo CLI Hackathon 2026 · GCC Edition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6F4D9-CB34-4032-8F36-17119C16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5D0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35D09A"/>
                </a:solidFill>
                <a:latin typeface="Helvetica Neue"/>
                <a:ea typeface="Helvetica Neue"/>
                <a:cs typeface="Helvetica Neue"/>
              </a:rPr>
              <a:t>Human-reviewed. No DENY outcome. Synthetic data only.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34E49-5896-478E-A79B-9222AC56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Rushikesh Hulage</a:t>
            </a:r>
          </a:p>
        </p:txBody>
      </p:sp>
    </p:spTree>
    <p:extLst>
      <p:ext uri="{BB962C8B-B14F-4D97-AF65-F5344CB8AC3E}">
        <p14:creationId xmlns:p14="http://schemas.microsoft.com/office/powerpoint/2010/main" val="15514932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AEF9B4-F420-457E-813C-798B967E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7E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553A7-AE2C-4031-B45E-3A295BF7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28E14-7D0A-4FA1-ACC5-30E446F2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A one-hour decision window with fragmented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BA4DA-8ADE-475B-A9E5-119227C3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CashlessIQ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46FFB-AFD5-4CE5-BAEF-6CB61FA1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40F6F-DEEF-4C30-B514-4D0C3553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0" b="1">
                <a:solidFill>
                  <a:srgbClr val="FFC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100" b="1">
                <a:solidFill>
                  <a:srgbClr val="FFC857"/>
                </a:solidFill>
                <a:latin typeface="Helvetica Neue"/>
                <a:ea typeface="Helvetica Neue"/>
                <a:cs typeface="Helvetica Neue"/>
              </a:rPr>
              <a:t>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D57E6-AAAE-42AD-9394-D60DFCFC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ED6F4-655E-4902-868E-E2C9A1BD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Hospital 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698F7-ED85-46C0-A16C-9CF703E5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Member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F4DA0-2DE3-4505-A876-FBD65744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42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Policy wording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101EC-6111-4A1B-95BE-6E41669C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4C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E71C9-18CB-441E-A3DD-7790D7B2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573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A reviewer must reconcile clinical facts, waiting periods, benefit limits and prior claims before drafting a defensible answer.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E941E-0CC7-4F1C-890F-769B051A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38625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rPr>
              <a:t>The calculation must remain auditable.</a:t>
            </a:r>
          </a:p>
        </p:txBody>
      </p:sp>
    </p:spTree>
    <p:extLst>
      <p:ext uri="{BB962C8B-B14F-4D97-AF65-F5344CB8AC3E}">
        <p14:creationId xmlns:p14="http://schemas.microsoft.com/office/powerpoint/2010/main" val="8070474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F6F417-2EF3-4403-9F2C-4BA304D1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7E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78E24-8595-4F24-9A25-E629A4BD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B3047-9FBA-4909-85A9-360F264E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Snowflake-native decision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631AD-EC82-4E73-B286-9504B516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CashlessIQ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F817C-AD11-47A0-86DE-EBE4FF3D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C030E-732B-4D33-94BA-55429DCA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1809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63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FD686-7008-4116-A331-533F5CC5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837AC-84F2-41EB-B406-8990E88A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Synthetic PDFs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7E639-BD4A-4D03-9B02-CBEBB98D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5745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0DDC0-37AD-4A40-AFEC-35702049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90750"/>
            <a:ext cx="1809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63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1DF82-50C3-44E5-B8CF-39D426C9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907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7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77439-FDF9-4B79-94CC-F6B8E2E1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1935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Document 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40021-84C4-4797-8BF8-57B38EB8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5745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1E5208-3E40-4E28-B8AB-3A8DCB78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90750"/>
            <a:ext cx="1809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63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1371E3-337E-4D39-8C13-8BC83D6F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907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9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46895-4C44-436D-B562-DD9918F9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1935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Deterministic tools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81C18-508E-40B5-8CEF-079D600C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5745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B09A68-87F7-4484-B96D-2F314A37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90750"/>
            <a:ext cx="1809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63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CEDDBB-A5F5-4265-9DB1-33A878B0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907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79B74E-7875-4B81-B4B2-7CF61961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1935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Cortex 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9B2C89-24AD-41D0-AE46-29CED41C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5745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52CBF5-EA30-413B-997C-4E082D4C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90750"/>
            <a:ext cx="1809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63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C3FEA9-C08A-4E66-AE5C-36E5FBAE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907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F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5F736E-1929-4610-AAA9-538A4BDB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1935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Reviewer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3A197F-AB87-41A2-9C9C-B470B6CD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4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rPr>
              <a:t>Cortex Search supplies the exact policy clause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18F3F7-045B-4C62-BFF7-C776F235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D0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5D09A"/>
                </a:solidFill>
                <a:latin typeface="Helvetica Neue"/>
                <a:ea typeface="Helvetica Neue"/>
                <a:cs typeface="Helvetica Neue"/>
              </a:rPr>
              <a:t>Snowpark wraps a pure-Python rules core with zero Snowflake imports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2AE95C-8EB2-4055-96DA-BE619952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The agent orchestrates. Python calculates. The human decides.</a:t>
            </a:r>
          </a:p>
        </p:txBody>
      </p:sp>
    </p:spTree>
    <p:extLst>
      <p:ext uri="{BB962C8B-B14F-4D97-AF65-F5344CB8AC3E}">
        <p14:creationId xmlns:p14="http://schemas.microsoft.com/office/powerpoint/2010/main" val="18173975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ACC2BC-40E8-4A87-BC38-4F9DF977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7E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EF319-E810-4062-9ED3-68F822A9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rPr>
              <a:t>DETERMINISTIC MATH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3413C-B8FC-4139-9E1F-ADEF5EE6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Every rupee has a reproducible calculation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742AB-2A29-42C7-BEBC-6231FFFF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CashlessIQ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B409C-9532-4398-B274-338A05F3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6894B-8F45-4EE6-85A4-756546FA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rPr>
              <a:t>GOL007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B4590-D14A-45C9-AB90-B5B76BEA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₹120,000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1B60C-01B5-457E-901C-84CA6BB4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claimed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19516-409D-4B4D-B433-7AD280EA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5D0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35D09A"/>
                </a:solidFill>
                <a:latin typeface="Helvetica Neue"/>
                <a:ea typeface="Helvetica Neue"/>
                <a:cs typeface="Helvetica Neue"/>
              </a:rPr>
              <a:t>₹79,800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8CDB6-E237-4707-9F42-F6DE03F1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recommended payable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91B4C-054A-48E1-87C9-F861A38A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695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263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936C3-BDFB-48CC-8188-9A14EE31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24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Room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B83F5-2A63-40C3-A2E6-1321D42C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min(₹24,000, ₹5,000 × 3) × 95% = ₹14,250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2F5C17-F45B-4858-BA9B-36FFA1D7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E440D3-53B8-44F2-9A23-E7825586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₹72,000 × 5,000/8,000 × 95% = ₹42,750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A089B-8896-44F5-9B17-9471B6D6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004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Medicines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F51508-C24D-4163-90BB-9CAE2E17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₹24,000 × 95% = ₹22,800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C76DC1-0560-4225-8B67-784972E8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482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rPr>
              <a:t>Citations: NIA-4.1-A · NIA-4.1-NOTE-B · NIA-9.5</a:t>
            </a:r>
          </a:p>
        </p:txBody>
      </p:sp>
    </p:spTree>
    <p:extLst>
      <p:ext uri="{BB962C8B-B14F-4D97-AF65-F5344CB8AC3E}">
        <p14:creationId xmlns:p14="http://schemas.microsoft.com/office/powerpoint/2010/main" val="10106738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E3B12E-A734-4D3C-A8B1-586E0474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7E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67951-E6B1-4CE1-8B65-FA37D8A3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rPr>
              <a:t>PRODUCT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AA398-AAD2-4695-A0EC-496ACFC5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Reviewer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1902B-9BF3-450E-8C4B-238A353E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CashlessIQ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005A2-2DBC-42FF-94F7-697F8395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4E64F-A190-43D7-9218-D805FFD7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71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71421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E948C-76E2-4FCC-B85E-F9C79102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8C7E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43F93-55EE-416A-9F4B-0446EB6A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71421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7A7DC-CEAA-40E6-A65A-7C31DA01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04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Queue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8696B-E6C7-49EB-800D-FB3D4A19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85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Prioritise by SLA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4D826-785A-4570-9848-4377C4F3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71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71421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52CE1-C882-4001-940D-357A32F7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8C7E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666242-EE34-4623-A5AD-F51B16CD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71421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7AEC8-F63E-4F83-9678-9C314A8C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71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Case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432370-D71D-497F-9BDB-7934BB3E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52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Facts, member 360 and source PDF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582B17-C7C8-4074-A028-DF02E4DC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71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71421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00F328-0BBB-4CFC-8A31-F9B2E8B0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8C7E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6879CF-DA05-4368-A411-BADE8CEA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71421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87CCE7-3FD5-4311-817B-1EDF291E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385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Draft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E046D0-F697-43A5-863B-31508DF4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195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Tools calculate; agent cites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7290A6-2EF3-4C3C-AA7D-6503FB61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71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71421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20C784-11A1-436A-86AF-B0421362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5D09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9D13EB-ED68-4D81-B56C-7DCE5720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71421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E02DC3-8F2E-483F-AC4A-4573BCBA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05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B15AAC-A430-491A-A8CC-9AB448DA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86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Accept, edit, query or refer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902E77-A3D9-4123-91D7-94CE31A7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66875"/>
            <a:ext cx="3714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0263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A9F80B-FE1C-4CFB-A21E-D3DE232E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47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Four possible drafts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98A354-9EBE-4D25-A20F-04DA4898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19375"/>
            <a:ext cx="285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rPr>
              <a:t>APPROVE</a:t>
            </a:r>
          </a:p>
          <a:p xmlns:a="http://schemas.openxmlformats.org/drawingml/2006/main">
            <a:pPr algn="ctr">
              <a:defRPr sz="1725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rPr>
              <a:t>APPROVE WITH DEDUCTIONS</a:t>
            </a:r>
          </a:p>
          <a:p xmlns:a="http://schemas.openxmlformats.org/drawingml/2006/main">
            <a:pPr algn="ctr">
              <a:defRPr sz="1725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rPr>
              <a:t>QUERY</a:t>
            </a:r>
          </a:p>
          <a:p xmlns:a="http://schemas.openxmlformats.org/drawingml/2006/main">
            <a:pPr algn="ctr">
              <a:defRPr sz="1725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rPr>
              <a:t>REFER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4295FC-D4E9-4A3E-A1CC-9DF8D3AC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29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B6B"/>
                </a:solidFill>
                <a:latin typeface="Helvetica Neue"/>
                <a:ea typeface="Helvetica Neue"/>
                <a:cs typeface="Helvetica Neue"/>
              </a:rPr>
              <a:t>DENY is rejected by schema</a:t>
            </a:r>
          </a:p>
        </p:txBody>
      </p:sp>
    </p:spTree>
    <p:extLst>
      <p:ext uri="{BB962C8B-B14F-4D97-AF65-F5344CB8AC3E}">
        <p14:creationId xmlns:p14="http://schemas.microsoft.com/office/powerpoint/2010/main" val="3345025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E519CE-A135-4A41-981E-2B636BC1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7E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2EB22-5B25-4DFC-B5C0-5FFEADD6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rPr>
              <a:t>ROLE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80465-4055-4DC9-A777-F731509A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Governance follows the signed-in reviewer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37B49-5FA2-47E6-A5BB-8A1EE40B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CashlessIQ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582F8-16D1-48CD-82B1-BB5CD3EB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EB4E5-CB2E-4137-A298-BDED172A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rPr>
              <a:t>Medical officer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33856-3DFB-49BF-8A7A-974FC048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Clear data</a:t>
            </a:r>
          </a:p>
          <a:p xmlns:a="http://schemas.openxmlformats.org/drawingml/2006/main">
            <a:pPr algn="l">
              <a:defRPr sz="1575" b="0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All review actions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43EC8-BE79-4922-8F02-F2E2C0C9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668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C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C857"/>
                </a:solidFill>
                <a:latin typeface="Helvetica Neue"/>
                <a:ea typeface="Helvetica Neue"/>
                <a:cs typeface="Helvetica Neue"/>
              </a:rPr>
              <a:t>Processor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CFB4F-7184-4BD4-B618-2C09BA51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Partial masking</a:t>
            </a:r>
          </a:p>
          <a:p xmlns:a="http://schemas.openxmlformats.org/drawingml/2006/main">
            <a:pPr algn="l">
              <a:defRPr sz="1575" b="0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QUERY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5B5DE-0261-4084-9BF1-E27C79FE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5D0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5D09A"/>
                </a:solidFill>
                <a:latin typeface="Helvetica Neue"/>
                <a:ea typeface="Helvetica Neue"/>
                <a:cs typeface="Helvetica Neue"/>
              </a:rPr>
              <a:t>Auditor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7963F5-B826-4EA2-A584-6DF1AFC1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431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Masked data</a:t>
            </a:r>
          </a:p>
          <a:p xmlns:a="http://schemas.openxmlformats.org/drawingml/2006/main">
            <a:pPr algn="l">
              <a:defRPr sz="1575" b="0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Read-only log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2A6B3-3AC6-4A63-824D-65A1D895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019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4C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83109-D15F-45AD-9D98-58C603A1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13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Restricted caller rights preserve masking policies inside the container Streamlit app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A0FFA-1F1C-4EE0-BFE0-2D0F5D0B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5D0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5D09A"/>
                </a:solidFill>
                <a:latin typeface="Helvetica Neue"/>
                <a:ea typeface="Helvetica Neue"/>
                <a:cs typeface="Helvetica Neue"/>
              </a:rPr>
              <a:t>Human review stays mandatory for every final decision</a:t>
            </a:r>
          </a:p>
        </p:txBody>
      </p:sp>
    </p:spTree>
    <p:extLst>
      <p:ext uri="{BB962C8B-B14F-4D97-AF65-F5344CB8AC3E}">
        <p14:creationId xmlns:p14="http://schemas.microsoft.com/office/powerpoint/2010/main" val="9349862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E3D8CF-8F3F-4E0D-B1AB-A2F02DAC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7E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1EEA2-CDF7-46C8-9BDF-D54C3E0F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rPr>
              <a:t>COCO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B8082-CDCA-42D3-B52D-54590233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Policy onboarding stops at human approval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F9959-01FA-46B0-A3E6-65EAD16C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CashlessIQ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B4F76-4FD7-4F4E-BD77-F3D149A9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30EB2-49EB-4076-A0F2-F8FD7A36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1762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63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93B3F-C75C-44CF-9A63-27FB0B80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533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Parse PDF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B91E8-93C6-4D86-9BC1-474E96F1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86000"/>
            <a:ext cx="1762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63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87835-217D-4A03-AECF-70AFECD7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476500"/>
            <a:ext cx="1533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Stage diff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8CD0D-2D39-49D6-8E4A-DA841113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86000"/>
            <a:ext cx="1762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63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72FB6-A6A7-4FAB-B40C-13C23018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533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Check 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8C5D8-B547-42B6-A9BA-251DF3A2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86000"/>
            <a:ext cx="1762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53CE9-5607-49F9-A1E6-EC7EC6D8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476500"/>
            <a:ext cx="1533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421"/>
                </a:solidFill>
                <a:latin typeface="Helvetica Neue"/>
                <a:ea typeface="Helvetica Neue"/>
                <a:cs typeface="Helvetica Neue"/>
              </a:rPr>
              <a:t>Human approval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F33366-B259-4E49-8C97-070E53FE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86000"/>
            <a:ext cx="1762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63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0433A-60D8-43C5-85D8-FB9A479B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76500"/>
            <a:ext cx="1533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Merge +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C2E945-7BDE-42B6-9FF1-8D1A5F3E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05250"/>
            <a:ext cx="161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5C58DF-4651-4E07-848F-00D7CA25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667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clauses added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31256-4DA8-4C88-8CA5-893E60D5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905250"/>
            <a:ext cx="161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35D0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35D09A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DBAFAB-DCDE-4B70-A935-54969EF1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667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rule changes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039A6D-BC83-4BB1-82B4-0D83E5B1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905250"/>
            <a:ext cx="161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FFC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C857"/>
                </a:solidFill>
                <a:latin typeface="Helvetica Neue"/>
                <a:ea typeface="Helvetica Neue"/>
                <a:cs typeface="Helvetica Neue"/>
              </a:rPr>
              <a:t>10/10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91DC2F-6F3E-42D9-9D96-250C17C8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67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search probes</a:t>
            </a:r>
          </a:p>
        </p:txBody>
      </p:sp>
    </p:spTree>
    <p:extLst>
      <p:ext uri="{BB962C8B-B14F-4D97-AF65-F5344CB8AC3E}">
        <p14:creationId xmlns:p14="http://schemas.microsoft.com/office/powerpoint/2010/main" val="14532858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92ECA-4857-461D-8848-76B01819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7E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95029-C58A-4981-9F4A-E279DF71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5C9A8-5F3D-40B6-A9D8-C3A9752A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Measured quality on 30 fixed-seed cases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2F4DB-DCDF-482A-9538-BD8022E7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CashlessIQ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7D5D6-1CE4-4B47-BF1A-B292F0F2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19125" y="1571625"/>
          <a:ext xmlns:a="http://schemas.openxmlformats.org/drawingml/2006/main" cx="6667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bb3b0e81304b1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F08F8-4B7A-4F2E-9018-A10698EC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478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35D0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35D09A"/>
                </a:solidFill>
                <a:latin typeface="Helvetica Neue"/>
                <a:ea typeface="Helvetica Neue"/>
                <a:cs typeface="Helvetica Neue"/>
              </a:rPr>
              <a:t>41.4s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2AEE9-11CB-44A3-90B2-8A31CEA9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0512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average agent latency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001B0-A226-4760-BD18-6791D30D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1475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C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C857"/>
                </a:solidFill>
                <a:latin typeface="Helvetica Neue"/>
                <a:ea typeface="Helvetica Neue"/>
                <a:cs typeface="Helvetica Neue"/>
              </a:rPr>
              <a:t>27/30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927C9-081B-43C1-8E89-D8B1E069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767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outcomes correct</a:t>
            </a:r>
          </a:p>
        </p:txBody>
      </p:sp>
    </p:spTree>
    <p:extLst>
      <p:ext uri="{BB962C8B-B14F-4D97-AF65-F5344CB8AC3E}">
        <p14:creationId xmlns:p14="http://schemas.microsoft.com/office/powerpoint/2010/main" val="16927065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029FA5-A6E4-479B-B05D-E4169E4F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7E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F1B89-6C9B-4963-9BB6-1029CCA5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rPr>
              <a:t>HONEST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A18B2-D847-4BD1-80D8-DA8198E2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Known gaps are visible and actionable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FA45E-32B6-466A-B806-B4001AD9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CashlessIQ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8FB49-0265-436B-BCC1-B357B7E3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C3260-DA9D-47AC-BA86-985B83CC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6B6B"/>
                </a:solidFill>
                <a:latin typeface="Helvetica Neue"/>
                <a:ea typeface="Helvetica Neue"/>
                <a:cs typeface="Helvetica Neue"/>
              </a:rPr>
              <a:t>PED extraction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BCC32-D550-44B0-8B94-E07116BD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Three cases lost the ICD-10 code during extraction, so the matcher could not connect the declared condition.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BA0BF-CD1F-42C6-AC4D-A10DEC2C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668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C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C857"/>
                </a:solidFill>
                <a:latin typeface="Helvetica Neue"/>
                <a:ea typeface="Helvetica Neue"/>
                <a:cs typeface="Helvetica Neue"/>
              </a:rPr>
              <a:t>Decision-level citations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F2EF5-55CF-44E8-B90C-79D37104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43125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QUERY and REFER have no payable lines. The schema needs a top-level evidence field to measure their citations fairly.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EAB7B-064B-4931-9BFB-7D478CDC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14750"/>
            <a:ext cx="1019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4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BEB19-3F65-4C5D-95DD-F4950DE6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962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rPr>
              <a:t>Next: preserve ICD-10 during extraction, model explicit remaining-SI scenarios, and add decision-level evidence</a:t>
            </a:r>
          </a:p>
        </p:txBody>
      </p:sp>
    </p:spTree>
    <p:extLst>
      <p:ext uri="{BB962C8B-B14F-4D97-AF65-F5344CB8AC3E}">
        <p14:creationId xmlns:p14="http://schemas.microsoft.com/office/powerpoint/2010/main" val="17772970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AB8D2-E3DB-430B-9F3B-E7663FCF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7E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35730-BEF6-487E-8531-C596CFBB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rPr>
              <a:t>CASHLESSIQ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A385B-858C-43CE-9966-7484A42A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A faster draft without surrendering judgment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FE925-A926-4D24-82AF-100576B1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CashlessIQ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13FAB-CD35-4E0A-B6A6-52919BD1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4E3DE-2CE4-4744-8E2C-E3194645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5D0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5D09A"/>
                </a:solidFill>
                <a:latin typeface="Helvetica Neue"/>
                <a:ea typeface="Helvetica Neue"/>
                <a:cs typeface="Helvetica Neue"/>
              </a:rPr>
              <a:t>Deterministic math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01C5B-E8E9-4FE2-A887-0E7272FE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Every payable amount can be rerun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F7E84-D654-4051-B095-CE0F9041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rPr>
              <a:t>Cited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6B32F-5CC6-4458-8B05-1DC48658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Policy wording stays beside the 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2FA6D-5AC2-4288-A9F5-D29CFA6E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14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C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C857"/>
                </a:solidFill>
                <a:latin typeface="Helvetica Neue"/>
                <a:ea typeface="Helvetica Neue"/>
                <a:cs typeface="Helvetica Neue"/>
              </a:rPr>
              <a:t>Human authority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A06F3-8A7B-4A5D-9D0D-ED5E0FC5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3837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No DENY outcome; reviewers decide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19905-E5AD-4F51-AE0B-6E14A8F8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4F8FB"/>
                </a:solidFill>
                <a:latin typeface="Helvetica Neue"/>
                <a:ea typeface="Helvetica Neue"/>
                <a:cs typeface="Helvetica Neue"/>
              </a:rPr>
              <a:t>CashlessIQ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840057-ED9B-4C48-85AA-E7A63AF0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767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8C7E9"/>
                </a:solidFill>
                <a:latin typeface="Helvetica Neue"/>
                <a:ea typeface="Helvetica Neue"/>
                <a:cs typeface="Helvetica Neue"/>
              </a:rPr>
              <a:t>Snowflake-native cashless pre-authorisation copilot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ED4CCC-E672-46A7-8876-311DD496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292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EB4C5"/>
                </a:solidFill>
                <a:latin typeface="Helvetica Neue"/>
                <a:ea typeface="Helvetica Neue"/>
                <a:cs typeface="Helvetica Neue"/>
              </a:rPr>
              <a:t>github.com/hulagerushikesh/cashlessiq</a:t>
            </a:r>
          </a:p>
        </p:txBody>
      </p:sp>
    </p:spTree>
    <p:extLst>
      <p:ext uri="{BB962C8B-B14F-4D97-AF65-F5344CB8AC3E}">
        <p14:creationId xmlns:p14="http://schemas.microsoft.com/office/powerpoint/2010/main" val="622054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2026-10-04T07:02:26.3400000Z</dcterms:created>
  <dcterms:modified xsi:type="dcterms:W3CDTF">2026-10-04T07:02:26.3400000Z</dcterms:modified>
</coreProperties>
</file>