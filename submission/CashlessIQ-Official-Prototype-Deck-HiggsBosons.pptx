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dd3b80b164a7a" /><Relationship Type="http://schemas.openxmlformats.org/officeDocument/2006/relationships/extended-properties" Target="/docProps/app.xml" Id="R3a588daedfc04c44" /><Relationship Type="http://schemas.openxmlformats.org/officeDocument/2006/relationships/officeDocument" Target="/ppt/presentation.xml" Id="Rf12c7f10351c427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156e381025041e0"/>
  </p:sldMasterIdLst>
  <p:notesMasterIdLst>
    <p:notesMasterId xmlns:r="http://schemas.openxmlformats.org/officeDocument/2006/relationships" r:id="Rac0e5e5a3f664169"/>
  </p:notesMasterIdLst>
  <p:sldIdLst>
    <p:sldId xmlns:r="http://schemas.openxmlformats.org/officeDocument/2006/relationships" id="256" r:id="R099a778459794084"/>
    <p:sldId xmlns:r="http://schemas.openxmlformats.org/officeDocument/2006/relationships" id="257" r:id="R260abab5884442e2"/>
    <p:sldId xmlns:r="http://schemas.openxmlformats.org/officeDocument/2006/relationships" id="258" r:id="Re35ef51401a140ad"/>
    <p:sldId xmlns:r="http://schemas.openxmlformats.org/officeDocument/2006/relationships" id="259" r:id="Rd80eb0dd73724998"/>
    <p:sldId xmlns:r="http://schemas.openxmlformats.org/officeDocument/2006/relationships" id="260" r:id="R6a6008925f864c2b"/>
    <p:sldId xmlns:r="http://schemas.openxmlformats.org/officeDocument/2006/relationships" id="261" r:id="R3ea2c25fb07f4e08"/>
  </p:sldIdLst>
  <p:sldSz cx="9144000" cy="5143500"/>
  <p:notesSz cx="6858000" cy="9144000"/>
  <p:embeddedFontLst>
    <p:embeddedFont>
      <p:font typeface="Manrope SemiBold"/>
      <p:regular xmlns:r="http://schemas.openxmlformats.org/officeDocument/2006/relationships" r:id="Ra63b674f820748b1"/>
      <p:bold xmlns:r="http://schemas.openxmlformats.org/officeDocument/2006/relationships" r:id="Rd93d21951a9441a0"/>
    </p:embeddedFont>
    <p:embeddedFont>
      <p:font typeface="Manrope"/>
      <p:regular xmlns:r="http://schemas.openxmlformats.org/officeDocument/2006/relationships" r:id="Ra56378718d204cdc"/>
      <p:bold xmlns:r="http://schemas.openxmlformats.org/officeDocument/2006/relationships" r:id="R34fdb43da41f45cc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b1e78cad1d4949" /><Relationship Type="http://schemas.openxmlformats.org/officeDocument/2006/relationships/slideMaster" Target="/ppt/slideMasters/slideMaster1.xml" Id="R0156e381025041e0" /><Relationship Type="http://schemas.openxmlformats.org/officeDocument/2006/relationships/notesMaster" Target="/ppt/notesMasters/notesMaster1.xml" Id="Rac0e5e5a3f664169" /><Relationship Type="http://schemas.openxmlformats.org/officeDocument/2006/relationships/presProps" Target="/ppt/presProps.xml" Id="Rc26da703d49d4b47" /><Relationship Type="http://schemas.openxmlformats.org/officeDocument/2006/relationships/viewProps" Target="/ppt/viewProps.xml" Id="Ra5dd79f942254c60" /><Relationship Type="http://schemas.openxmlformats.org/officeDocument/2006/relationships/tableStyles" Target="/ppt/tableStyles.xml" Id="Re380190349b04815" /><Relationship Type="http://schemas.openxmlformats.org/officeDocument/2006/relationships/font" Target="/ppt/fonts/font.dat" Id="Ra63b674f820748b1" /><Relationship Type="http://schemas.openxmlformats.org/officeDocument/2006/relationships/font" Target="/ppt/fonts/font2.dat" Id="Rd93d21951a9441a0" /><Relationship Type="http://schemas.openxmlformats.org/officeDocument/2006/relationships/font" Target="/ppt/fonts/font3.dat" Id="Ra56378718d204cdc" /><Relationship Type="http://schemas.openxmlformats.org/officeDocument/2006/relationships/font" Target="/ppt/fonts/font4.dat" Id="R34fdb43da41f45cc" /><Relationship Type="http://schemas.openxmlformats.org/officeDocument/2006/relationships/slide" Target="/ppt/slides/slide1.xml" Id="R099a778459794084" /><Relationship Type="http://schemas.openxmlformats.org/officeDocument/2006/relationships/slide" Target="/ppt/slides/slide2.xml" Id="R260abab5884442e2" /><Relationship Type="http://schemas.openxmlformats.org/officeDocument/2006/relationships/slide" Target="/ppt/slides/slide3.xml" Id="Re35ef51401a140ad" /><Relationship Type="http://schemas.openxmlformats.org/officeDocument/2006/relationships/slide" Target="/ppt/slides/slide4.xml" Id="Rd80eb0dd73724998" /><Relationship Type="http://schemas.openxmlformats.org/officeDocument/2006/relationships/slide" Target="/ppt/slides/slide5.xml" Id="R6a6008925f864c2b" /><Relationship Type="http://schemas.openxmlformats.org/officeDocument/2006/relationships/slide" Target="/ppt/slides/slide6.xml" Id="R3ea2c25fb07f4e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e291269ec7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2257cbd6b8499c" /><Relationship Type="http://schemas.openxmlformats.org/officeDocument/2006/relationships/notesMaster" Target="/ppt/notesMasters/notesMaster1.xml" Id="Rac82c46b5840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92125b5cb419f" /><Relationship Type="http://schemas.openxmlformats.org/officeDocument/2006/relationships/notesMaster" Target="/ppt/notesMasters/notesMaster1.xml" Id="Ra53d19fbe172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b085ea6998484b" /><Relationship Type="http://schemas.openxmlformats.org/officeDocument/2006/relationships/notesMaster" Target="/ppt/notesMasters/notesMaster1.xml" Id="R45873dd377304b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8bd20839b04e72" /><Relationship Type="http://schemas.openxmlformats.org/officeDocument/2006/relationships/notesMaster" Target="/ppt/notesMasters/notesMaster1.xml" Id="R48636551da2e44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bbcf85a2e3481c" /><Relationship Type="http://schemas.openxmlformats.org/officeDocument/2006/relationships/notesMaster" Target="/ppt/notesMasters/notesMaster1.xml" Id="R251b69e2f4364c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f413048c0a4173" /><Relationship Type="http://schemas.openxmlformats.org/officeDocument/2006/relationships/notesMaster" Target="/ppt/notesMasters/notesMaster1.xml" Id="Reb9f5a9cb6ae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CashlessIQ submission cover. Repository: https://github.com/hulagerushikesh/cashlessiq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Source: docs/build-plan.md and docs/strategy.md. Synthetic data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Source: docs/architecture.md and docs/coco-playbook.md.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Demo case and controls are described in docs/demo-script.md. Public demo cases are precomputed fixed-seed examples.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Source: docs/evaluation.md. Results are reported without relabelling failures.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Repository: https://github.com/hulagerushikesh/cashlessiq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Prototype: https://cashlessiq.hulage.in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fda92668e43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0e2ff215847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edc7edc6b47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d44e3200744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d6b41a4ce4d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8e6901e0f471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11a07c7fb4d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4507ef26c46b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835c1bedf4a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a11925aad44e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72f012cf34cfa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BCE5EC66-0202-4B25-A571-A400B736D6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3">
            <a:extLst xmlns:a="http://schemas.openxmlformats.org/drawingml/2006/main">
              <a:ext uri="{FF2B5EF4-FFF2-40B4-BE49-F238E27FC236}">
                <a16:creationId xmlns:a16="http://schemas.microsoft.com/office/drawing/2014/main" id="{E21916FB-B699-4D07-A8C3-029CDF8E4F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3" name="Google Shape;13;p3">
            <a:extLst xmlns:a="http://schemas.openxmlformats.org/drawingml/2006/main">
              <a:ext uri="{FF2B5EF4-FFF2-40B4-BE49-F238E27FC236}">
                <a16:creationId xmlns:a16="http://schemas.microsoft.com/office/drawing/2014/main" id="{D54CF5D8-19DC-4B71-857E-C774BA9835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C875D1F1-7C51-4C36-AB69-DA6AA523D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4">
            <a:extLst xmlns:a="http://schemas.openxmlformats.org/drawingml/2006/main">
              <a:ext uri="{FF2B5EF4-FFF2-40B4-BE49-F238E27FC236}">
                <a16:creationId xmlns:a16="http://schemas.microsoft.com/office/drawing/2014/main" id="{B9ABDBDD-A100-4BB9-BF6D-54AC0BCFC9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12EAE8F0-9DF4-47EC-8DFC-2BE601B345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5">
            <a:extLst xmlns:a="http://schemas.openxmlformats.org/drawingml/2006/main">
              <a:ext uri="{FF2B5EF4-FFF2-40B4-BE49-F238E27FC236}">
                <a16:creationId xmlns:a16="http://schemas.microsoft.com/office/drawing/2014/main" id="{81341EF8-66BB-40F7-8975-837088E359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C61BB435-E2BA-4E93-9DEF-F53D27931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A2379531-6E75-44DA-84C2-C766E94EE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6">
            <a:extLst xmlns:a="http://schemas.openxmlformats.org/drawingml/2006/main">
              <a:ext uri="{FF2B5EF4-FFF2-40B4-BE49-F238E27FC236}">
                <a16:creationId xmlns:a16="http://schemas.microsoft.com/office/drawing/2014/main" id="{F9FFFB37-DBD1-45D1-A423-BAC9D0221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7A29FFF8-9469-477A-824A-7AF9C789CF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5" name="Google Shape;25;p6">
            <a:extLst xmlns:a="http://schemas.openxmlformats.org/drawingml/2006/main">
              <a:ext uri="{FF2B5EF4-FFF2-40B4-BE49-F238E27FC236}">
                <a16:creationId xmlns:a16="http://schemas.microsoft.com/office/drawing/2014/main" id="{93AE9A6A-45A6-4F1A-AF03-59773D8071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0B6A2B87-0E78-4002-AF35-E99534F1D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7">
            <a:extLst xmlns:a="http://schemas.openxmlformats.org/drawingml/2006/main">
              <a:ext uri="{FF2B5EF4-FFF2-40B4-BE49-F238E27FC236}">
                <a16:creationId xmlns:a16="http://schemas.microsoft.com/office/drawing/2014/main" id="{E259D921-83E5-46D7-8C36-56C218027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44B58A29-BB55-48C0-B7D4-0B0DE27239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8">
            <a:extLst xmlns:a="http://schemas.openxmlformats.org/drawingml/2006/main">
              <a:ext uri="{FF2B5EF4-FFF2-40B4-BE49-F238E27FC236}">
                <a16:creationId xmlns:a16="http://schemas.microsoft.com/office/drawing/2014/main" id="{8B5DE930-CEA3-4B1D-A0B9-E5C44E6EC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2" name="Google Shape;32;p8">
            <a:extLst xmlns:a="http://schemas.openxmlformats.org/drawingml/2006/main">
              <a:ext uri="{FF2B5EF4-FFF2-40B4-BE49-F238E27FC236}">
                <a16:creationId xmlns:a16="http://schemas.microsoft.com/office/drawing/2014/main" id="{30176409-92DD-4988-B9B9-1644C8E78E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CF64B721-88A2-4BBC-B331-11597871BB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9">
            <a:extLst xmlns:a="http://schemas.openxmlformats.org/drawingml/2006/main">
              <a:ext uri="{FF2B5EF4-FFF2-40B4-BE49-F238E27FC236}">
                <a16:creationId xmlns:a16="http://schemas.microsoft.com/office/drawing/2014/main" id="{AC20EFEB-ACCB-4B41-B3DE-36B91F96C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DE9CBBA1-B19B-48E6-B624-20B0C9E131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355A2CD2-4375-4387-8FED-A9335250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6E28CE46-DF7B-4692-B20C-AA6F90A91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40" name="Google Shape;40;p10">
            <a:extLst xmlns:a="http://schemas.openxmlformats.org/drawingml/2006/main">
              <a:ext uri="{FF2B5EF4-FFF2-40B4-BE49-F238E27FC236}">
                <a16:creationId xmlns:a16="http://schemas.microsoft.com/office/drawing/2014/main" id="{ABD5A2AE-70BF-4267-9C14-2DB47E0A14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41" name="Google Shape;41;p10">
            <a:extLst xmlns:a="http://schemas.openxmlformats.org/drawingml/2006/main">
              <a:ext uri="{FF2B5EF4-FFF2-40B4-BE49-F238E27FC236}">
                <a16:creationId xmlns:a16="http://schemas.microsoft.com/office/drawing/2014/main" id="{B8E3C600-8AB7-4692-98ED-5776A313E1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2331715B-9F28-45D7-B3DC-7806CB331D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5E7143FF-9FDD-452F-A645-2AF8755E5D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8D6F4CD6-38CB-4FE1-98EE-3B3617609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12">
            <a:extLst xmlns:a="http://schemas.openxmlformats.org/drawingml/2006/main">
              <a:ext uri="{FF2B5EF4-FFF2-40B4-BE49-F238E27FC236}">
                <a16:creationId xmlns:a16="http://schemas.microsoft.com/office/drawing/2014/main" id="{A7611C76-6080-49AD-8892-15879C89017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8" name="Google Shape;48;p12">
            <a:extLst xmlns:a="http://schemas.openxmlformats.org/drawingml/2006/main">
              <a:ext uri="{FF2B5EF4-FFF2-40B4-BE49-F238E27FC236}">
                <a16:creationId xmlns:a16="http://schemas.microsoft.com/office/drawing/2014/main" id="{06BB3A85-B9F4-422B-B7D8-1B0BA49A35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C0BBD800-987E-47B7-B974-755BEE54E9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91d1027b11433f" /><Relationship Type="http://schemas.openxmlformats.org/officeDocument/2006/relationships/slideLayout" Target="/ppt/slideLayouts/slideLayout1.xml" Id="R89e127a8014243b1" /><Relationship Type="http://schemas.openxmlformats.org/officeDocument/2006/relationships/slideLayout" Target="/ppt/slideLayouts/slideLayout2.xml" Id="R569cf440f7d94546" /><Relationship Type="http://schemas.openxmlformats.org/officeDocument/2006/relationships/slideLayout" Target="/ppt/slideLayouts/slideLayout3.xml" Id="R35a49c532d804be9" /><Relationship Type="http://schemas.openxmlformats.org/officeDocument/2006/relationships/slideLayout" Target="/ppt/slideLayouts/slideLayout4.xml" Id="R9db4393705e84c80" /><Relationship Type="http://schemas.openxmlformats.org/officeDocument/2006/relationships/slideLayout" Target="/ppt/slideLayouts/slideLayout5.xml" Id="R30574387df0246c6" /><Relationship Type="http://schemas.openxmlformats.org/officeDocument/2006/relationships/slideLayout" Target="/ppt/slideLayouts/slideLayout6.xml" Id="Rab61513ea9544f62" /><Relationship Type="http://schemas.openxmlformats.org/officeDocument/2006/relationships/slideLayout" Target="/ppt/slideLayouts/slideLayout7.xml" Id="R9844dcef591b4508" /><Relationship Type="http://schemas.openxmlformats.org/officeDocument/2006/relationships/slideLayout" Target="/ppt/slideLayouts/slideLayout8.xml" Id="Rc1c41c5f30c64d04" /><Relationship Type="http://schemas.openxmlformats.org/officeDocument/2006/relationships/slideLayout" Target="/ppt/slideLayouts/slideLayout9.xml" Id="R597bb94d92e4447f" /><Relationship Type="http://schemas.openxmlformats.org/officeDocument/2006/relationships/slideLayout" Target="/ppt/slideLayouts/slideLayout10.xml" Id="R55452596048941f5" /><Relationship Type="http://schemas.openxmlformats.org/officeDocument/2006/relationships/slideLayout" Target="/ppt/slideLayouts/slideLayout11.xml" Id="Rba4d027de1664820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F527D81-2236-4B0A-8FC6-EEEB5F2ACF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15E5572-BD83-40DC-905C-20EC3FF339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B4670BE0-644C-40F9-9FDA-E90E96B80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e127a8014243b1"/>
    <p:sldLayoutId xmlns:r="http://schemas.openxmlformats.org/officeDocument/2006/relationships" id="2147483650" r:id="R569cf440f7d94546"/>
    <p:sldLayoutId xmlns:r="http://schemas.openxmlformats.org/officeDocument/2006/relationships" id="2147483651" r:id="R35a49c532d804be9"/>
    <p:sldLayoutId xmlns:r="http://schemas.openxmlformats.org/officeDocument/2006/relationships" id="2147483652" r:id="R9db4393705e84c80"/>
    <p:sldLayoutId xmlns:r="http://schemas.openxmlformats.org/officeDocument/2006/relationships" id="2147483653" r:id="R30574387df0246c6"/>
    <p:sldLayoutId xmlns:r="http://schemas.openxmlformats.org/officeDocument/2006/relationships" id="2147483654" r:id="Rab61513ea9544f62"/>
    <p:sldLayoutId xmlns:r="http://schemas.openxmlformats.org/officeDocument/2006/relationships" id="2147483655" r:id="R9844dcef591b4508"/>
    <p:sldLayoutId xmlns:r="http://schemas.openxmlformats.org/officeDocument/2006/relationships" id="2147483656" r:id="Rc1c41c5f30c64d04"/>
    <p:sldLayoutId xmlns:r="http://schemas.openxmlformats.org/officeDocument/2006/relationships" id="2147483657" r:id="R597bb94d92e4447f"/>
    <p:sldLayoutId xmlns:r="http://schemas.openxmlformats.org/officeDocument/2006/relationships" id="2147483658" r:id="R55452596048941f5"/>
    <p:sldLayoutId xmlns:r="http://schemas.openxmlformats.org/officeDocument/2006/relationships" id="2147483659" r:id="Rba4d027de166482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228d69d0c4d7d" /><Relationship Type="http://schemas.openxmlformats.org/officeDocument/2006/relationships/image" Target="/ppt/media/image.png" Id="Radd54a2badc0462c" /><Relationship Type="http://schemas.openxmlformats.org/officeDocument/2006/relationships/notesSlide" Target="/ppt/notesSlides/notesSlide1.xml" Id="R88a7382a9e9242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96f85b99143b9" /><Relationship Type="http://schemas.openxmlformats.org/officeDocument/2006/relationships/image" Target="/ppt/media/image2.png" Id="Raf8377f1ea044419" /><Relationship Type="http://schemas.openxmlformats.org/officeDocument/2006/relationships/notesSlide" Target="/ppt/notesSlides/notesSlide2.xml" Id="Raee47ec3960a4f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99e0c21894fff" /><Relationship Type="http://schemas.openxmlformats.org/officeDocument/2006/relationships/image" Target="/ppt/media/image2.png" Id="Rd6545a8817924c6f" /><Relationship Type="http://schemas.openxmlformats.org/officeDocument/2006/relationships/notesSlide" Target="/ppt/notesSlides/notesSlide3.xml" Id="Ra4b37f09c4ef43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e72d1f654422b" /><Relationship Type="http://schemas.openxmlformats.org/officeDocument/2006/relationships/image" Target="/ppt/media/image2.png" Id="Re45130719c6b4491" /><Relationship Type="http://schemas.openxmlformats.org/officeDocument/2006/relationships/notesSlide" Target="/ppt/notesSlides/notesSlide4.xml" Id="R66d132a4115642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2d836ebcb4c0a" /><Relationship Type="http://schemas.openxmlformats.org/officeDocument/2006/relationships/image" Target="/ppt/media/image2.png" Id="Rdd46da2a0cce4617" /><Relationship Type="http://schemas.openxmlformats.org/officeDocument/2006/relationships/notesSlide" Target="/ppt/notesSlides/notesSlide5.xml" Id="R19adb686e43247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9a0b7c3354204" /><Relationship Type="http://schemas.openxmlformats.org/officeDocument/2006/relationships/image" Target="/ppt/media/image3.png" Id="R288a9c3e42a74a78" /><Relationship Type="http://schemas.openxmlformats.org/officeDocument/2006/relationships/notesSlide" Target="/ppt/notesSlides/notesSlide6.xml" Id="R27f04664dc1f4c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Google Shape;5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d54a2badc046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2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BF14B670-14D8-420D-B204-74D75977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08" y="3192600"/>
            <a:ext cx="7152900" cy="37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Name : HiggsBosons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B59F4FD9-1C9C-47B2-A39D-D88C1E60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8" y="4250161"/>
            <a:ext cx="7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Problem Statement : Cited cashless pre-authorisation review under a one-hour SLA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B2FF9DF5-5C12-4546-9E7D-77D521B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98" y="3534656"/>
            <a:ext cx="7152900" cy="37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Leader Name : Rushikesh Hulage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73E70304-0B47-40D4-B1D2-9CCE7EA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88" y="3907261"/>
            <a:ext cx="7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6750" tIns="76750" rIns="76750" bIns="767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sz="1343" b="0" i="0" u="non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</a:rPr>
              <a:t>Team Size : 1</a:t>
            </a:r>
            <a:endParaRPr sz="1343" b="0" i="0" u="none" cap="none">
              <a:solidFill>
                <a:srgbClr val="202729"/>
              </a:solidFill>
              <a:latin typeface="Manrope SemiBold"/>
              <a:ea typeface="Manrope SemiBold"/>
              <a:cs typeface="Manrope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0242200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9" name="Google Shape;63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8377f1ea0444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53C5A16A-DE44-4D83-BD44-1719B270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00" y="600420"/>
            <a:ext cx="8485800" cy="429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sz="1700" b="1" i="0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/>
            </a:r>
            <a:endParaRPr sz="1442" b="1" i="1" u="none" cap="none">
              <a:solidFill>
                <a:srgbClr val="202729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75B1C7-4354-490B-B2E1-22BBE07F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Problem brief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5F3137-4151-4F31-8F01-B42D13DD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Cashless pre-authorisation review is slow, calculation-heavy and difficult to audit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B79F01-971E-40B6-818C-3D67E861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216797-08E6-4B58-9AD7-0A6EE985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Medical officer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DB32D5-A749-4F92-BC3C-DCAE7FC8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Must combine clinical facts, member history and policy wording before the hospital expects an answer.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78257E-D271-402C-B2ED-0E3FBF26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3DF60E-A73D-41CC-B5D2-DA5FEC23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Processor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71E64A-D7ED-4680-873C-73A00F60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Needs a consistent draft with exact deductions, missing-document queries and traceable evidence.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D50FAF-A6C0-417F-9480-F606B59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8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273AB9-5343-4993-9CE6-DAC46AE1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Auditor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C302E8-9BDD-4835-A1E3-7309E9B3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04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Needs a durable record of what the copilot recommended and what the human finally decided.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ADB7C0-D8F4-4B71-835A-7091D3FE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CashlessIQ drafts APPROVE, APPROVE WITH DEDUCTIONS, QUERY or REFER. It never returns DENY, and the human retains authority.</a:t>
            </a:r>
          </a:p>
        </p:txBody>
      </p:sp>
    </p:spTree>
    <p:extLst>
      <p:ext uri="{BB962C8B-B14F-4D97-AF65-F5344CB8AC3E}">
        <p14:creationId xmlns:p14="http://schemas.microsoft.com/office/powerpoint/2010/main" val="945628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Google Shape;6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545a8817924c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A184F-3BF0-4AD4-A5AF-CD795DBF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Architecture and CoCo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6495B-7367-4DA8-8E46-4C22C567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Snowflake handles documents, retrieval, orchestration, governance and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582BB-CEF9-43D4-B01D-90779F14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D57AB-5EEE-41BF-9B69-7B31B3A1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5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Pre-auth PDFs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81333-5FC1-474E-8FEB-4641C783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AI_PARSE_DOCUMENT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AI_EXTRACT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97D6D-B516-4B08-A039-DB8A298A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476BD-F51C-486A-812B-EB597A93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E3108-85E8-4C44-B3C1-8F44EFDB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2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Member 360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8F36E-533A-43BE-AC75-A22699EE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Semantic View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structured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8C7FB-9435-4997-9E9A-F5AED328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855F4-4312-4C30-93D5-5C25871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3BD50-897E-4863-843D-D30048BC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Policy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AA76B-A682-402B-845C-5C6D4589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Cortex Search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35 clauses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7DC72-33D3-4CC9-8A47-B81CE423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A336A-CE9F-452B-BA17-23932539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EFC37-843F-4948-BEDA-805C288A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Rules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CCEDF-BB40-44F1-B608-019F9018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Pure Python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integer rupees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FA5EB-250F-4991-BE52-8309D180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619C9-15F7-4F02-BEAC-0232F7E6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82A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5DB63-BFA8-4986-A281-17531DBC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1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Cortex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97720-9F81-4A0B-847D-EE28635F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C8EAF2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C8EAF2"/>
                </a:solidFill>
                <a:latin typeface="Manrope"/>
                <a:ea typeface="Manrope"/>
                <a:cs typeface="Manrope"/>
              </a:rPr>
              <a:t>Tool-first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C8EAF2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C8EAF2"/>
                </a:solidFill>
                <a:latin typeface="Manrope"/>
                <a:ea typeface="Manrope"/>
                <a:cs typeface="Manrope"/>
              </a:rPr>
              <a:t>validated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43718-EE49-41E5-81ED-4445463D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09825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54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B8D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B8DA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572CB-E4FA-41FF-AF74-39F4976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52625"/>
            <a:ext cx="1190625" cy="1381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7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3C38D-30F2-4848-BE84-282F9945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95500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7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Reviewer console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8F4A-051A-426E-B13E-BB3A13F3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Masking + audit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human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E502B-9234-412F-BE11-7FAE1BC5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CoCo CLI work: object setup · extraction tuning · Agent specification · grant debugging · governed policy onboarding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3AAF03-CF1A-4709-96CB-C2AC4DFF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2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Trust boundary: the LLM orchestrates and explains. Deterministic tools calculate every amount.</a:t>
            </a:r>
          </a:p>
        </p:txBody>
      </p:sp>
    </p:spTree>
    <p:extLst>
      <p:ext uri="{BB962C8B-B14F-4D97-AF65-F5344CB8AC3E}">
        <p14:creationId xmlns:p14="http://schemas.microsoft.com/office/powerpoint/2010/main" val="11836281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Google Shape;74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5130719c6b44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E9764-E45D-477F-84D7-B957CCE3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Prototype and reviewer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A2E65-9263-4D3C-9EE6-B78C9F15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A public demo supports anonymous judging; the Snowflake console demonstrates the governed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88FE0-2E2B-4148-9DD7-4784E98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38576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9F8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FAF92-1B67-4F90-882D-5F70ACA6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GOL007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0329-E47E-4F25-A4E8-E9DF96FD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61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9A6100"/>
                </a:solidFill>
                <a:latin typeface="Manrope"/>
                <a:ea typeface="Manrope"/>
                <a:cs typeface="Manrope"/>
              </a:rPr>
              <a:t>APPROVE WITH DEDUCTIONS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C69F6-5476-415F-8A11-E18F6C2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₹120,000 claimed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40B3F-E6E7-4EF3-805E-A1B52A53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860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₹79,800 payable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9B19D-E1FC-428C-B252-1AF038A5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Room cap, proportionate deduction and mandatory 5% co-pay carry policy citations.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8F545-C127-458D-A516-3988C6D7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905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92D21-19F1-4D46-94FD-1B9988D6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00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Guardrails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C1A43-978D-4E2B-AD1B-7A3581E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765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No DENY outcome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JSON schema validation before save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Medical, processor and auditor views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Explicit approval before policy-rule changes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• Fixed-seed synthetic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07256-CA91-429B-9C48-8A6EE95C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Public prototype: cashlessiq.hulage.in</a:t>
            </a:r>
          </a:p>
        </p:txBody>
      </p:sp>
    </p:spTree>
    <p:extLst>
      <p:ext uri="{BB962C8B-B14F-4D97-AF65-F5344CB8AC3E}">
        <p14:creationId xmlns:p14="http://schemas.microsoft.com/office/powerpoint/2010/main" val="20800149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1" name="Google Shape;7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46da2a0cce46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" name="Google Shape;80;p17">
            <a:extLst xmlns:a="http://schemas.openxmlformats.org/drawingml/2006/main">
              <a:ext uri="{FF2B5EF4-FFF2-40B4-BE49-F238E27FC236}">
                <a16:creationId xmlns:a16="http://schemas.microsoft.com/office/drawing/2014/main" id="{30EEC28F-265A-409A-ABD5-C16270AE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00" y="4478850"/>
            <a:ext cx="8512200" cy="53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sz="900" b="1" i="1" u="none" cap="none">
                <a:solidFill>
                  <a:srgbClr val="202729"/>
                </a:solidFill>
                <a:latin typeface="Manrope"/>
                <a:ea typeface="Manrope"/>
                <a:cs typeface="Manrope"/>
              </a:rPr>
              <a:t/>
            </a:r>
            <a:endParaRPr sz="600" b="0" i="1" u="none" cap="none">
              <a:solidFill>
                <a:srgbClr val="434343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7DD739-601B-4282-A4CD-E7371AB3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22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Measured impact and honest gaps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5964B0-A0F9-415B-A4C7-9DFFA73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Evaluation run EVAL-E6E692A5D0E04347B06F · 30 fixed-seed golden cases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28B9A1C-89B5-4E2E-ACE7-87BE147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85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1F8AC9E-2A7E-43BE-9CE4-2E60F27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A8F69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A8F69"/>
                </a:solidFill>
                <a:latin typeface="Manrope"/>
                <a:ea typeface="Manrope"/>
                <a:cs typeface="Manrope"/>
              </a:rPr>
              <a:t>30/30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76328F-3581-4F2E-81F5-0912EFF2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Schema valid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AB4DC9D-C30C-4D37-8D3D-345CE159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185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E20BBD-6A84-4663-A515-F925FE3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00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27/30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9A807A-84F1-48F3-BBFF-58285AFD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71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Outcome match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12E8E2F-0419-4658-83B7-D1383077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185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FF100BB-663D-4F3B-A541-BB8F6CD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87AF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87AF0"/>
                </a:solidFill>
                <a:latin typeface="Manrope"/>
                <a:ea typeface="Manrope"/>
                <a:cs typeface="Manrope"/>
              </a:rPr>
              <a:t>29/30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B1D8A4-6A39-43B3-B758-A5B2663E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71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Amount match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1F7E635-72BF-4498-9EE7-1BB4BE7E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185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50C470C-00E6-48D2-9F63-072C878A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9A61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9A6100"/>
                </a:solidFill>
                <a:latin typeface="Manrope"/>
                <a:ea typeface="Manrope"/>
                <a:cs typeface="Manrope"/>
              </a:rPr>
              <a:t>41.4s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F36151-7D51-4403-B359-FD341037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0636D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50636D"/>
                </a:solidFill>
                <a:latin typeface="Manrope"/>
                <a:ea typeface="Manrope"/>
                <a:cs typeface="Manrope"/>
              </a:rPr>
              <a:t>Mean latency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B28FD9E-4AF7-4028-814A-E4A75940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What the prototype proved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525F16-F15B-4C68-B597-BA8EE22D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433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The deterministic amount path reproduced 96.7% of golden payables, every response passed the output contract, and policy onboarding added 25 searchable clauses with zero unsupported rule changes.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352B97-2492-4F0B-B818-C975F606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81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What remains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7BD09AF-2BA4-4EF0-9365-57FB4257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433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0232D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10232D"/>
                </a:solidFill>
                <a:latin typeface="Manrope"/>
                <a:ea typeface="Manrope"/>
                <a:cs typeface="Manrope"/>
              </a:rPr>
              <a:t>Three PED outcomes expose ICD-10 extraction normalisation. One amount exposes a scenario-override gap. Strict citation recall is 55% because QUERY and REFER need decision-level citations.</a:t>
            </a:r>
          </a:p>
        </p:txBody>
      </p:sp>
    </p:spTree>
    <p:extLst>
      <p:ext uri="{BB962C8B-B14F-4D97-AF65-F5344CB8AC3E}">
        <p14:creationId xmlns:p14="http://schemas.microsoft.com/office/powerpoint/2010/main" val="1486456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85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8a9c3e42a74a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8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1993481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2026-10-04T12:42:51.7260000Z</dcterms:created>
  <dcterms:modified xsi:type="dcterms:W3CDTF">2026-10-04T12:42:51.7260000Z</dcterms:modified>
</coreProperties>
</file>